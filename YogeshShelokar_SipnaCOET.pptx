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83" r:id="rId2"/>
    <p:sldId id="257" r:id="rId3"/>
    <p:sldId id="282" r:id="rId4"/>
    <p:sldId id="259" r:id="rId5"/>
    <p:sldId id="287" r:id="rId6"/>
    <p:sldId id="281" r:id="rId7"/>
    <p:sldId id="290" r:id="rId8"/>
    <p:sldId id="292" r:id="rId9"/>
    <p:sldId id="264" r:id="rId10"/>
    <p:sldId id="278" r:id="rId11"/>
    <p:sldId id="280" r:id="rId12"/>
    <p:sldId id="289" r:id="rId13"/>
    <p:sldId id="286" r:id="rId14"/>
    <p:sldId id="291" r:id="rId15"/>
    <p:sldId id="27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5442BE9-3974-1933-32C6-9AF7D5B3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31A5659-1A29-2122-C98E-A114941F1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7937190A-F2EC-13EB-0E5C-DDE075D96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781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FACAAE56-6D4E-6CD5-A0AB-0A534BFE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FBC2DA2A-18E1-255F-8F9A-7A9AF2A8F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C1D1E7-D50A-9143-CB4B-A2D65554C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5957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0D607632-55B1-E752-2C1B-420F2068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>
            <a:extLst>
              <a:ext uri="{FF2B5EF4-FFF2-40B4-BE49-F238E27FC236}">
                <a16:creationId xmlns:a16="http://schemas.microsoft.com/office/drawing/2014/main" id="{508817B1-4578-BF70-0B5D-BFEDAB493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>
            <a:extLst>
              <a:ext uri="{FF2B5EF4-FFF2-40B4-BE49-F238E27FC236}">
                <a16:creationId xmlns:a16="http://schemas.microsoft.com/office/drawing/2014/main" id="{FD855EE6-83D1-0D84-0299-BB68F9716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2617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F8FC6C7-4362-DB37-109D-234814DF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96EACD03-E480-B8A6-1188-E2D15D563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E8F5BACE-A273-E07A-A6AE-AAF9E8A9E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3433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D68B40DC-7D13-D1F3-B3F0-6289AB86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93092C2-43EB-9927-B5E2-DFFE43A83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00BFB171-709F-E779-E3B3-9DDA4A06E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4431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E9CF866B-2C88-DF56-8398-D3241ED3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27A0CC5B-F590-CF77-1AEE-71A2CCAF3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12A3BE9-B7A9-5519-B532-23397364A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5399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baind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67" y="521208"/>
            <a:ext cx="9553829" cy="310896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FDP on Agentic AI: Foundations, Applications, and Future Directions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978" y="2880074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</a:t>
            </a:r>
            <a:r>
              <a:rPr lang="en-US" b="1" i="1" dirty="0">
                <a:solidFill>
                  <a:schemeClr val="tx1"/>
                </a:solidFill>
              </a:rPr>
              <a:t>Exploring the Power of Agentic AI with IBM Granite and </a:t>
            </a:r>
            <a:r>
              <a:rPr lang="en-US" b="1" i="1" dirty="0" err="1">
                <a:solidFill>
                  <a:schemeClr val="tx1"/>
                </a:solidFill>
              </a:rPr>
              <a:t>LangFlow</a:t>
            </a:r>
            <a:r>
              <a:rPr lang="en-US" b="1" i="1" dirty="0">
                <a:solidFill>
                  <a:schemeClr val="tx1"/>
                </a:solidFill>
              </a:rPr>
              <a:t>”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24776" y="506065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96297" y="1170671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166605719"/>
              </p:ext>
            </p:extLst>
          </p:nvPr>
        </p:nvGraphicFramePr>
        <p:xfrm>
          <a:off x="1596852" y="1942025"/>
          <a:ext cx="9889566" cy="399562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1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1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0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Dr. Vijay S. </a:t>
                      </a:r>
                      <a:r>
                        <a:rPr lang="en-IN" dirty="0" err="1"/>
                        <a:t>Gulhane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vijaygulhane27@gmail.com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9422126922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Yogesh R. Shelokar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Shelokar.yogesh@gmail.com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8625955263</a:t>
                      </a:r>
                      <a:endParaRPr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5C02F5B-DD33-0AB5-AC05-AAB6A4FA7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678" y="3792995"/>
            <a:ext cx="1026124" cy="10040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0EFDBA-8812-DEA9-96FA-629EA8F5B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868" y="2720100"/>
            <a:ext cx="1023933" cy="9796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131A8B-2E57-076A-8C67-6032547F2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F21C6-619D-5723-9C45-58DAD8A43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Problem Statement No.2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- An AI agent designed to assist faculty with NBA accreditation processes (RAG Based) </a:t>
            </a:r>
          </a:p>
          <a:p>
            <a:pPr algn="just"/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The Challenge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- An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AI agent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designed to assist faculty with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NBA accreditation processes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using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</a:rPr>
              <a:t>RAG (Retrieval-Augmented Generation)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. It retrieves relevant NBA criteria, formats, and past documentation from internal and external sources. Faculty can query the agent for guidance on SAR preparation, CO-PO mapping, and documentation. The RAG model ensures up-to-date and context-aware responses, grounded in trusted data. It reduces manual effort, ensures consistency, and speeds up accreditation readiness. This intelligent assistant supports continuous improvement and compliance with NBA standards.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F20C0D9-93C3-EE16-676E-F305930A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Work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36F08-6312-FB59-2130-86BA0DBEF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Develop an AI agent using </a:t>
            </a:r>
            <a:r>
              <a:rPr lang="en-US" sz="2600" b="1" dirty="0"/>
              <a:t>RAG</a:t>
            </a:r>
            <a:r>
              <a:rPr lang="en-US" sz="2600" dirty="0"/>
              <a:t> for NBA accreditation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Retrieve updated </a:t>
            </a:r>
            <a:r>
              <a:rPr lang="en-US" sz="2600" b="1" dirty="0"/>
              <a:t>NBA criteria, formats, and documents</a:t>
            </a:r>
            <a:r>
              <a:rPr lang="en-US" sz="2600" dirty="0"/>
              <a:t>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Provide quick guidance for </a:t>
            </a:r>
            <a:r>
              <a:rPr lang="en-US" sz="2600" b="1" dirty="0"/>
              <a:t>SAR preparation and CO–PO mapping</a:t>
            </a:r>
            <a:r>
              <a:rPr lang="en-US" sz="2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Reduce manual work and human errors in documentation.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600" dirty="0"/>
              <a:t>Improve </a:t>
            </a:r>
            <a:r>
              <a:rPr lang="en-US" sz="2600" b="1" dirty="0"/>
              <a:t>accuracy, consistency, and readiness</a:t>
            </a:r>
            <a:r>
              <a:rPr lang="en-US" sz="2600" dirty="0"/>
              <a:t> for accreditation.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6E4AEF2A-E545-F006-37E5-BE9E4647F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272DDF-A76A-1CA5-9E97-44513632DCD1}"/>
              </a:ext>
            </a:extLst>
          </p:cNvPr>
          <p:cNvSpPr txBox="1"/>
          <p:nvPr/>
        </p:nvSpPr>
        <p:spPr>
          <a:xfrm>
            <a:off x="8216343" y="6084125"/>
            <a:ext cx="1996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Fig: Proposed Solution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F4D1F-44D3-4FAE-2EFB-2029A7C12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5A321-8817-7B5A-1A5A-F68E20CF8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Upload NBA accreditation documents into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User asks a question related to NBA / SAR / CO-PO mapping.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600" dirty="0"/>
              <a:t>The AI retrieves the relevant part of the uploaded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The model generates an accurate answer from that retrieved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Response is displayed to the faculty for quick guidance.</a:t>
            </a:r>
            <a:endParaRPr lang="en-IN" sz="2600" dirty="0"/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93002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5DB1BF-5073-47EB-E7BE-4F8134F7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 Used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81D14-F6B5-C757-828E-EED9E42DE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Chat Input : </a:t>
            </a:r>
            <a:r>
              <a:rPr lang="en-US" sz="2600" dirty="0"/>
              <a:t>Collects faculty questions as input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File Loader (File Component) : </a:t>
            </a:r>
            <a:r>
              <a:rPr lang="en-US" sz="2600" dirty="0"/>
              <a:t>Uploads NBA documents like SAR, manuals, CO-PO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600" b="1" dirty="0"/>
              <a:t>Prompt Template : </a:t>
            </a:r>
            <a:r>
              <a:rPr lang="en-IN" sz="2600" dirty="0"/>
              <a:t>Structures the question and document content into a proper query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Language Model (LLM Component) : </a:t>
            </a:r>
            <a:r>
              <a:rPr lang="en-US" sz="2600" dirty="0"/>
              <a:t>Uses the selected model (e.g., Gemini 2.5 flash) to generate the final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Chat Output : </a:t>
            </a:r>
            <a:r>
              <a:rPr lang="en-US" sz="2600" dirty="0"/>
              <a:t>Displays the resulting answer/guidance to the faculty.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BBADA70-B00B-422D-247D-8C6148AC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85C8-3E5B-6AC8-BF46-73927AAF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A090A-2FB0-6B15-E49C-1BDA0FB80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FB210-CB3A-AFA8-AF77-A9B171ED5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90455"/>
            <a:ext cx="10210800" cy="438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39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BF544EC2-4697-C74B-D5B5-A8A76699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52D5F9-EE88-B27B-F5A7-C465CAAD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Agentic AI in assist faculty with NBA Accreditation Processes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10E021-387B-575F-F116-C77FC0FF3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Automated Information Retrieval</a:t>
            </a:r>
            <a:br>
              <a:rPr lang="en-US" sz="2600" dirty="0"/>
            </a:br>
            <a:r>
              <a:rPr lang="en-US" sz="2600" dirty="0"/>
              <a:t>Agentic AI quickly finds relevant NBA criteria, SAR templates, and compliance guidelines — saving time and reducing confusion.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Guided CO–PO Mapping</a:t>
            </a:r>
            <a:br>
              <a:rPr lang="en-US" sz="2600" dirty="0"/>
            </a:br>
            <a:r>
              <a:rPr lang="en-US" sz="2600" dirty="0"/>
              <a:t>It gives suggestions for correct Course Outcome to Program Outcome mapping based on course structure and NBA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Document Preparation Support</a:t>
            </a:r>
            <a:br>
              <a:rPr lang="en-US" sz="2600" dirty="0"/>
            </a:br>
            <a:r>
              <a:rPr lang="en-US" sz="2600" dirty="0"/>
              <a:t>Helps faculty auto-fill report sections like SAR, course files, attainment sheets, and evidence documentation with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Continuous Monitoring &amp; Progress Tracking</a:t>
            </a:r>
            <a:br>
              <a:rPr lang="en-US" sz="2600" dirty="0"/>
            </a:br>
            <a:r>
              <a:rPr lang="en-US" sz="2600" dirty="0"/>
              <a:t>Tracks which documents are completed, which are pending, and sends reminders to faculty for timely updates.</a:t>
            </a:r>
          </a:p>
        </p:txBody>
      </p:sp>
    </p:spTree>
    <p:extLst>
      <p:ext uri="{BB962C8B-B14F-4D97-AF65-F5344CB8AC3E}">
        <p14:creationId xmlns:p14="http://schemas.microsoft.com/office/powerpoint/2010/main" val="1606180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1CCDF-A0D1-925D-A4A5-00590F53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Agentic AI in assist faculty with NBA Accreditation Processes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00A9B0-FC88-7A21-C05B-219722583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Consistency &amp; Standardization</a:t>
            </a:r>
            <a:br>
              <a:rPr lang="en-US" sz="2600" dirty="0"/>
            </a:br>
            <a:r>
              <a:rPr lang="en-US" sz="2600" dirty="0"/>
              <a:t>Ensures all departments follow the same structure and formatting, improving accreditation success chances.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Decision-Making Assistance</a:t>
            </a:r>
            <a:br>
              <a:rPr lang="en-US" sz="2600" dirty="0"/>
            </a:br>
            <a:r>
              <a:rPr lang="en-US" sz="2600" dirty="0"/>
              <a:t>Provides intelligent recommendations for improving course outcomes, feedback systems, and teaching–learning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Knowledge Sharing &amp; Collaboration</a:t>
            </a:r>
            <a:br>
              <a:rPr lang="en-US" sz="2600" dirty="0"/>
            </a:br>
            <a:r>
              <a:rPr lang="en-US" sz="2600" dirty="0"/>
              <a:t>Acts as an intelligent assistant that can answer faculty queries anytime — reducing dependency on NBA experts.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2C5F956-F8F3-85E9-3F78-0EE7D3D3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6560" cy="1325563"/>
          </a:xfrm>
        </p:spPr>
        <p:txBody>
          <a:bodyPr/>
          <a:lstStyle/>
          <a:p>
            <a:r>
              <a:rPr lang="en-US" b="1" dirty="0"/>
              <a:t>Technology Used</a:t>
            </a:r>
            <a:br>
              <a:rPr lang="en-IN" b="1" dirty="0"/>
            </a:br>
            <a:endParaRPr lang="en-IN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27858CC-7782-E39C-80FB-E25DAE927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8554" y="1050511"/>
            <a:ext cx="1135380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 + RAG Architecture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 Generation to provide accurate and document-grounded answers.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LangFlow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workflow builder used to design the RAG pipeline and integrate all components (Chat Input, File Loader, LLM, Output,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Language Model (LLM)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understand queries and generate accurate NBA-based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Loaders &amp; Text Processing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upload and read NBA files (PDF, Word, Manuals). Splits text into chunks for efficient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 &amp; Vector Database 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document text into searchable vectors. Helps retrieve relevant chunks when questions are asked.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Engineering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 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prompts ensure responses align with NBA criteria and SAR documentation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 (Chat Interface)</a:t>
            </a:r>
            <a:r>
              <a:rPr lang="en-US" altLang="en-US" sz="25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chat screen for faculty to type questions and get guidance instantly.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 </a:t>
            </a:r>
            <a:r>
              <a:rPr lang="en-US" sz="35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5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hots </a:t>
            </a:r>
            <a:endParaRPr sz="35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5E7465-CF59-E0AE-DDAE-133DF24C8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61" y="1378857"/>
            <a:ext cx="10193081" cy="507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0F0C3610-EFF8-F83B-A75E-3C2A4D91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CEEFB43-3383-771E-28A7-4B42FC8FE5FB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 shots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F67B1FCD-6A17-F1C4-A14D-FA1F93EC0A0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0464D7-B37B-A91A-5901-882175C859E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03D31F7A-6D69-6039-72FD-663ED83BBDB1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04757-60A6-18B2-D80D-177F9EFB8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45" y="1582057"/>
            <a:ext cx="9735909" cy="492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49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99D00344-5B67-433B-BF41-6FF60554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C7EF47D-7F96-CB94-7A7E-634F995E6896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9BD3EB2-ACA1-57C7-B634-3508C2F0B2B1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D6ED3-1D57-9CAB-1E7D-DA3714A6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D48F52-551A-27BE-9CF3-334D936E7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496471"/>
            <a:ext cx="113538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CO-PO attainment calculation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analytics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easier use by faculty across India.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updates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latest NBA guidelines from official 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collaboration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HoDs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coordinators, and faculty.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auto-generation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SAR, course files, and compliance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access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on-the-go query assistance.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advanced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capabilities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task automation like workflow reminders and progress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ERP/LMS systems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automatic data import.</a:t>
            </a:r>
          </a:p>
        </p:txBody>
      </p:sp>
    </p:spTree>
    <p:extLst>
      <p:ext uri="{BB962C8B-B14F-4D97-AF65-F5344CB8AC3E}">
        <p14:creationId xmlns:p14="http://schemas.microsoft.com/office/powerpoint/2010/main" val="392594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6AFBDF4-F431-164C-AE26-2ADF93E8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7B0BE6E-6E74-D0D9-30C9-FC03C11A9464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8A760984-FD77-734C-8DBF-AACCE7D0F18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62F617E-F441-CB0F-C3D0-D0C6F3858529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136C1-B3DB-A182-B65E-ED8D903C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24C82-B7E7-9952-5AA1-1046D07AA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NBA Official Website – National Board of Accreditation. Guidelines, Manuals &amp; SAR Formats. Retrieved from: </a:t>
            </a:r>
            <a:r>
              <a:rPr lang="en-US" dirty="0">
                <a:hlinkClick r:id="rId3"/>
              </a:rPr>
              <a:t>https://www.nbaind.org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854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858</Words>
  <Application>Microsoft Office PowerPoint</Application>
  <PresentationFormat>Widescreen</PresentationFormat>
  <Paragraphs>79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FDP on Agentic AI: Foundations, Applications, and Future Directions </vt:lpstr>
      <vt:lpstr>PowerPoint Presentation</vt:lpstr>
      <vt:lpstr>Problem Statement</vt:lpstr>
      <vt:lpstr>Research Work</vt:lpstr>
      <vt:lpstr>Proposed Solution</vt:lpstr>
      <vt:lpstr>Langflow Component Used </vt:lpstr>
      <vt:lpstr>Workflow </vt:lpstr>
      <vt:lpstr>Role of Agentic AI in assist faculty with NBA Accreditation Processes</vt:lpstr>
      <vt:lpstr>Role of Agentic AI in assist faculty with NBA Accreditation Processes</vt:lpstr>
      <vt:lpstr>Technology Used </vt:lpstr>
      <vt:lpstr>PowerPoint Presentation</vt:lpstr>
      <vt:lpstr>PowerPoint Presentation</vt:lpstr>
      <vt:lpstr>Future Scope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Yogesh Shelokar</cp:lastModifiedBy>
  <cp:revision>58</cp:revision>
  <dcterms:created xsi:type="dcterms:W3CDTF">2025-07-08T05:06:56Z</dcterms:created>
  <dcterms:modified xsi:type="dcterms:W3CDTF">2025-11-20T09:36:44Z</dcterms:modified>
</cp:coreProperties>
</file>